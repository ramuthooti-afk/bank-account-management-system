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47"/>
  </p:notesMasterIdLst>
  <p:sldIdLst>
    <p:sldId id="260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5" r:id="rId15"/>
    <p:sldId id="276" r:id="rId16"/>
    <p:sldId id="279" r:id="rId17"/>
    <p:sldId id="287" r:id="rId18"/>
    <p:sldId id="304" r:id="rId19"/>
    <p:sldId id="286" r:id="rId20"/>
    <p:sldId id="285" r:id="rId21"/>
    <p:sldId id="305" r:id="rId22"/>
    <p:sldId id="306" r:id="rId23"/>
    <p:sldId id="293" r:id="rId24"/>
    <p:sldId id="292" r:id="rId25"/>
    <p:sldId id="281" r:id="rId26"/>
    <p:sldId id="291" r:id="rId27"/>
    <p:sldId id="288" r:id="rId28"/>
    <p:sldId id="301" r:id="rId29"/>
    <p:sldId id="300" r:id="rId30"/>
    <p:sldId id="299" r:id="rId31"/>
    <p:sldId id="309" r:id="rId32"/>
    <p:sldId id="310" r:id="rId33"/>
    <p:sldId id="311" r:id="rId34"/>
    <p:sldId id="312" r:id="rId35"/>
    <p:sldId id="315" r:id="rId36"/>
    <p:sldId id="313" r:id="rId37"/>
    <p:sldId id="314" r:id="rId38"/>
    <p:sldId id="298" r:id="rId39"/>
    <p:sldId id="297" r:id="rId40"/>
    <p:sldId id="296" r:id="rId41"/>
    <p:sldId id="308" r:id="rId42"/>
    <p:sldId id="289" r:id="rId43"/>
    <p:sldId id="278" r:id="rId44"/>
    <p:sldId id="302" r:id="rId45"/>
    <p:sldId id="31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9CD"/>
    <a:srgbClr val="EE5804"/>
    <a:srgbClr val="372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73520D-AF7B-4663-B7C7-6674F3684631}" v="12" dt="2026-10-01T06:33:23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A558C-F29D-47C6-BE00-9157FABD319E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50174-8483-471D-B041-A45F3E4E27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7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50174-8483-471D-B041-A45F3E4E27A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290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08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42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176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5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4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361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89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32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14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456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116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41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05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05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8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85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69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000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540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505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890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5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37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72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08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29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E755B30-7669-4F07-96C5-6B5D3EB2788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7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4693-9F62-5C67-18DA-F991A2B2D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A5E4C04-6D57-11A4-29B6-C9FF0E45A14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CF7D441-1CCC-53D8-33B3-14905D554556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5F67A36-9FAE-2523-540F-100125DF7F32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DBMS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414CE-9F7A-B3E2-BE84-F29BCD3574BA}"/>
              </a:ext>
            </a:extLst>
          </p:cNvPr>
          <p:cNvSpPr txBox="1"/>
          <p:nvPr/>
        </p:nvSpPr>
        <p:spPr>
          <a:xfrm>
            <a:off x="115317" y="1522305"/>
            <a:ext cx="12191999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dirty="0">
                <a:solidFill>
                  <a:srgbClr val="002060"/>
                </a:solidFill>
                <a:latin typeface="Berlin Sans FB Demi" panose="020E0802020502020306" pitchFamily="34" charset="0"/>
              </a:rPr>
              <a:t>            </a:t>
            </a:r>
            <a:r>
              <a:rPr lang="en-US" sz="4000" b="1" u="sng" dirty="0">
                <a:solidFill>
                  <a:srgbClr val="002060"/>
                </a:solidFill>
                <a:latin typeface="Berlin Sans FB Demi" panose="020E0802020502020306" pitchFamily="34" charset="0"/>
              </a:rPr>
              <a:t>BANK ACCOUNT MANAGEMENT SYSTEM</a:t>
            </a:r>
          </a:p>
          <a:p>
            <a:pPr algn="just"/>
            <a:r>
              <a:rPr lang="en-US" sz="4000" b="1" dirty="0">
                <a:solidFill>
                  <a:srgbClr val="00B050"/>
                </a:solidFill>
                <a:latin typeface="Aptos Black" panose="020F0502020204030204" pitchFamily="34" charset="0"/>
              </a:rPr>
              <a:t>                                         </a:t>
            </a:r>
            <a:r>
              <a:rPr lang="en-US" sz="4000" b="1" u="sng" dirty="0">
                <a:solidFill>
                  <a:srgbClr val="EE5804"/>
                </a:solidFill>
                <a:latin typeface="Aptos Black" panose="020F0502020204030204" pitchFamily="34" charset="0"/>
              </a:rPr>
              <a:t>DBMS Project</a:t>
            </a:r>
          </a:p>
          <a:p>
            <a:pPr algn="just"/>
            <a:endParaRPr lang="en-US" sz="2400" b="1" u="sng" dirty="0">
              <a:solidFill>
                <a:srgbClr val="EE5804"/>
              </a:solidFill>
              <a:latin typeface="Aptos Black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b="1" u="sng" dirty="0">
              <a:solidFill>
                <a:srgbClr val="00B050"/>
              </a:solidFill>
              <a:latin typeface="Aptos Black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b="1" u="sng" dirty="0">
              <a:solidFill>
                <a:srgbClr val="00B050"/>
              </a:solidFill>
              <a:latin typeface="Aptos Black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b="1" u="sng" dirty="0">
              <a:solidFill>
                <a:srgbClr val="00B050"/>
              </a:solidFill>
              <a:latin typeface="Aptos Black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b="1" u="sng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8E14E-008C-6A32-3726-69BC934665E5}"/>
              </a:ext>
            </a:extLst>
          </p:cNvPr>
          <p:cNvSpPr txBox="1"/>
          <p:nvPr/>
        </p:nvSpPr>
        <p:spPr>
          <a:xfrm>
            <a:off x="8468245" y="4445731"/>
            <a:ext cx="360843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PRESENTED BY: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T.Venkata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Ramu-25B11CS957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T.Vijay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Manikanta-25B11CS951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34D91-DD23-2F11-42A5-CDB5DEE69AA1}"/>
              </a:ext>
            </a:extLst>
          </p:cNvPr>
          <p:cNvSpPr txBox="1"/>
          <p:nvPr/>
        </p:nvSpPr>
        <p:spPr>
          <a:xfrm>
            <a:off x="4914034" y="2726649"/>
            <a:ext cx="25945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solidFill>
                  <a:srgbClr val="2509C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7A9A3-9517-4FD9-303D-60FC023B58D6}"/>
              </a:ext>
            </a:extLst>
          </p:cNvPr>
          <p:cNvSpPr txBox="1"/>
          <p:nvPr/>
        </p:nvSpPr>
        <p:spPr>
          <a:xfrm>
            <a:off x="229855" y="4445731"/>
            <a:ext cx="672526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 B.TECH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[VYDEHI MAM]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Aditya University - Admission 2026, Fees, Courses, Placement ...">
            <a:extLst>
              <a:ext uri="{FF2B5EF4-FFF2-40B4-BE49-F238E27FC236}">
                <a16:creationId xmlns:a16="http://schemas.microsoft.com/office/drawing/2014/main" id="{767ABF50-7349-867C-4BAC-22738F22E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5" y="536612"/>
            <a:ext cx="2415022" cy="7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20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1CDB-8DAE-55C8-275B-FDB484C8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ED65E2-911B-CC0A-E397-D0B3B454E6DE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7FDB390-D617-531D-2DE5-58B28C208676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53D9BDE-7BAF-3CE7-C916-B5EA0E86260D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BAF831D-1FB1-922D-3FFD-7DAEE2C4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3" y="276394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E34D37-3A17-1674-991D-23C55710AC4F}"/>
              </a:ext>
            </a:extLst>
          </p:cNvPr>
          <p:cNvSpPr txBox="1"/>
          <p:nvPr/>
        </p:nvSpPr>
        <p:spPr>
          <a:xfrm>
            <a:off x="186813" y="619593"/>
            <a:ext cx="12192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u="sng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u="sng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customer and banking records in an organized way is challenging.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accurate account and transaction details is important.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branch, employee, and loan information requires proper organization.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Unorganized records can cause data redundancy and inconsistency.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database is needed for quick and reliable access to banking information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endParaRPr lang="en-US" sz="2400" b="1" u="sng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Bank Account Management System using DBMS and SQL.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customer, branch, employee, account, transaction, and loan details in related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Primary Keys and Foreign Keys to establish relationships between tables.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database constraints to maintain data accuracy and integrity. </a:t>
            </a:r>
          </a:p>
          <a:p>
            <a:pPr>
              <a:buNone/>
            </a:pPr>
            <a:endParaRPr 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4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E229-263E-2697-D3FA-55A4899C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F61E059-8B88-8311-E15F-BB1703D8D45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F1FAF58-8B0E-AFBE-D698-8C46F7F0BC2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7CDF8FE-2B5F-3BFE-4185-6CAB30A145D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58DCEBB-89F8-0BA4-1E18-BBE60B7E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7D422-10FF-C19E-12C6-1EFB5A02D4E0}"/>
              </a:ext>
            </a:extLst>
          </p:cNvPr>
          <p:cNvSpPr txBox="1"/>
          <p:nvPr/>
        </p:nvSpPr>
        <p:spPr>
          <a:xfrm>
            <a:off x="267623" y="1288027"/>
            <a:ext cx="11845718" cy="5196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THE SYSTEM NEEDED?</a:t>
            </a:r>
          </a:p>
          <a:p>
            <a:pPr lvl="0"/>
            <a:endParaRPr lang="en-US" sz="2000" b="1" u="sng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banking information in a structured and centralized database.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data redundancy and inconsistency in customer and account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account and transaction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efficiently manage customers, accounts, branches, employees, and loans.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quick access to required banking information.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data integrity and proper relationships between different banking records.</a:t>
            </a:r>
          </a:p>
          <a:p>
            <a:pPr>
              <a:buNone/>
            </a:pPr>
            <a:endParaRPr lang="en-US" sz="2000" b="1" u="sng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67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5236-4BC4-5A42-7AFD-9C16705B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D2F0100-164E-E0F2-67FD-EA6A48283D6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CBAC607-AFEC-7B8D-B72B-7ABCBFB39B0D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7842E7E-323A-D7F6-F56E-516A3C58B2BA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33DC68BD-1F1D-A7C9-E5E9-F2ABFEE5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16633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96543-E7E9-D4AE-0E27-2B215B543C93}"/>
              </a:ext>
            </a:extLst>
          </p:cNvPr>
          <p:cNvSpPr txBox="1"/>
          <p:nvPr/>
        </p:nvSpPr>
        <p:spPr>
          <a:xfrm>
            <a:off x="196645" y="943897"/>
            <a:ext cx="9281652" cy="5939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None/>
            </a:pPr>
            <a:endParaRPr lang="en-US" sz="2400" b="1" dirty="0"/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Bank account Management System are: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database for managing banking information.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records of customers and their accounts.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deposits, withdrawals, and other transactions efficiently.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details of branches, bank employees, and loans.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establish proper relationships between different banking records.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data accuracy, consistency, and integrity using data 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what of banking information using SQL queries.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8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1A9B-EF76-3EAA-38FE-63E194D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638C1B9-6515-C060-59A8-A86F70513E8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3C4FA7A-A727-35D2-286C-967272BF582B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91EB6C3-397B-8C2F-8DB6-239220330C28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A99C04E-BB78-2F7B-4E57-CBD366BF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04" y="7789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3B4610-3EFB-11AC-1975-B2D22764D29A}"/>
              </a:ext>
            </a:extLst>
          </p:cNvPr>
          <p:cNvSpPr txBox="1"/>
          <p:nvPr/>
        </p:nvSpPr>
        <p:spPr>
          <a:xfrm>
            <a:off x="1" y="366623"/>
            <a:ext cx="1219199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REQUIREMENTS:</a:t>
            </a:r>
          </a:p>
          <a:p>
            <a:pPr algn="ctr">
              <a:buNone/>
            </a:pPr>
            <a:endParaRPr lang="en-US" sz="2000" b="1" dirty="0">
              <a:solidFill>
                <a:srgbClr val="EE580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able to: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delete, and view customer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customer accounts, including savings and checking accounts.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branch details such as branch name, address, and IFSC code.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employee details and their assigned branch.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deposits, withdrawals, transfers, and other account transactions.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loan details, including loan type, amount, interest rate, and status.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and display the current balance of each account.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specific details of savings and checking accounts.</a:t>
            </a:r>
          </a:p>
        </p:txBody>
      </p:sp>
    </p:spTree>
    <p:extLst>
      <p:ext uri="{BB962C8B-B14F-4D97-AF65-F5344CB8AC3E}">
        <p14:creationId xmlns:p14="http://schemas.microsoft.com/office/powerpoint/2010/main" val="179868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841B-09DD-CBE6-758B-5E54F993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559A74E-38B0-3F9C-95CC-0F0A261AE9A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93511A2-BAF8-3296-4DBE-4F500EEF9165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4ABEBD4-E909-6A57-365A-E010CCFC045C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36E47B3-408D-1806-6D66-1A2E0DCB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6" y="276898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B4AA3-7044-9DE9-A739-595A0255CC13}"/>
              </a:ext>
            </a:extLst>
          </p:cNvPr>
          <p:cNvSpPr txBox="1"/>
          <p:nvPr/>
        </p:nvSpPr>
        <p:spPr>
          <a:xfrm>
            <a:off x="334296" y="1190367"/>
            <a:ext cx="10932401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 customer, account, loan, and transaction data from unauthorized access.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Retrieve records and process database operations quickly.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transactions and database operations are performed accurately and consistently.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Maintain accurate relationships between Customer, Account, Loan, Transaction, Branch, and Employee entities.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a simple and easy-to-use system for managing banking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 an increasing number of customers, accounts, employees, loans, and transactions.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the database is accessible whenever banking operations are required.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Make the database structure easy to modify and maintain.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mechanisms to prevent permanent loss of banking data.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Keep personal and financial information of customers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8853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6F78-FDE1-26D3-2C01-AE81FE90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31AFA5F-AE8D-980C-E3D7-E806AA5F693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7A8A9E6-747E-B207-691F-7D91FAB4A65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1305110-03D8-E091-3A6F-6E2CD7B798D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D9E03E7-67B6-91B7-6E89-223D4FA1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1" y="116633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24F23-BD35-196F-4FBB-298A613FD366}"/>
              </a:ext>
            </a:extLst>
          </p:cNvPr>
          <p:cNvSpPr txBox="1"/>
          <p:nvPr/>
        </p:nvSpPr>
        <p:spPr>
          <a:xfrm>
            <a:off x="1436213" y="459832"/>
            <a:ext cx="78749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80EFAF-9026-B970-05CF-1649A44525BA}"/>
              </a:ext>
            </a:extLst>
          </p:cNvPr>
          <p:cNvSpPr txBox="1"/>
          <p:nvPr/>
        </p:nvSpPr>
        <p:spPr>
          <a:xfrm>
            <a:off x="188591" y="1071716"/>
            <a:ext cx="12003409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</a:p>
          <a:p>
            <a:pPr marL="342900" indent="-342900"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the complete bank account management system.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Adds, updates, and manages customer information.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bank accounts and account types.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Monitors transactions, loans, branches, and employees.</a:t>
            </a:r>
          </a:p>
          <a:p>
            <a:endParaRPr lang="en-IN" dirty="0"/>
          </a:p>
          <a:p>
            <a:r>
              <a:rPr lang="en-IN" b="1" dirty="0">
                <a:solidFill>
                  <a:srgbClr val="EE5804"/>
                </a:solidFill>
              </a:rPr>
              <a:t>2. </a:t>
            </a:r>
            <a:r>
              <a:rPr lang="en-IN" sz="2000" b="1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EMPLOYEE</a:t>
            </a: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Registers and manages customer details.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Creates and updates customer accounts.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Records deposits, withdrawals, and fund transfers.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loan and transaction information</a:t>
            </a:r>
            <a:r>
              <a:rPr lang="en-IN" dirty="0"/>
              <a:t>.</a:t>
            </a:r>
          </a:p>
          <a:p>
            <a:r>
              <a:rPr lang="en-IN" dirty="0"/>
              <a:t>.</a:t>
            </a:r>
          </a:p>
          <a:p>
            <a:r>
              <a:rPr lang="en-IN" b="1" dirty="0">
                <a:solidFill>
                  <a:srgbClr val="EE5804"/>
                </a:solidFill>
              </a:rPr>
              <a:t>3. </a:t>
            </a:r>
            <a:r>
              <a:rPr lang="en-IN" sz="2000" b="1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endParaRPr lang="en-IN" dirty="0"/>
          </a:p>
          <a:p>
            <a:r>
              <a:rPr lang="en-IN" dirty="0"/>
              <a:t>•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personal details for account registration.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Views account and balance information.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Performs deposits, withdrawals, and fund transfers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67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2301-FC01-0BC9-F9CC-7B1513C2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9301617-0B2E-4E43-2A7F-1CEB9BB60408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272EB73-C8B0-9006-3F06-54FBEC2BD41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92F3AFD-9207-39E8-BF11-0CC9C3BBDE7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1DC00D5-1B4A-3615-9E01-68CB77BF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2B6E2-F5D8-4687-79B7-A2759F6D91F0}"/>
              </a:ext>
            </a:extLst>
          </p:cNvPr>
          <p:cNvSpPr txBox="1"/>
          <p:nvPr/>
        </p:nvSpPr>
        <p:spPr>
          <a:xfrm>
            <a:off x="530942" y="1366684"/>
            <a:ext cx="8819535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DESIGN: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Entity-Relationship (ER) model represents the structure of the Bank account Management System.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Objects involved in the system.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Properties that describe each entity.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Uniquely identify each record.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 how entities are connected.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how many records of one entity can be associated with another entity.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19F64-0DFE-2633-21AE-F5AB5FE78014}"/>
              </a:ext>
            </a:extLst>
          </p:cNvPr>
          <p:cNvSpPr txBox="1"/>
          <p:nvPr/>
        </p:nvSpPr>
        <p:spPr>
          <a:xfrm>
            <a:off x="8986683" y="1494503"/>
            <a:ext cx="297917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 ENTITIES: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 marL="342900" lvl="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  <a:p>
            <a:pPr marL="342900" lvl="0" indent="-342900"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 startAt="4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</a:p>
          <a:p>
            <a:pPr marL="342900" lvl="0" indent="-342900"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 startAt="4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Bank_Employee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 startAt="4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2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DB25-B852-5606-3B2A-D5C92F43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itya University - Admission 2026, Fees, Courses, Placement ...">
            <a:extLst>
              <a:ext uri="{FF2B5EF4-FFF2-40B4-BE49-F238E27FC236}">
                <a16:creationId xmlns:a16="http://schemas.microsoft.com/office/drawing/2014/main" id="{94A0359F-93C6-D23F-5F29-01FB74E44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00" y="451029"/>
            <a:ext cx="2160946" cy="686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95D1E4-A68A-6C81-C174-59C6F9B13D3A}"/>
              </a:ext>
            </a:extLst>
          </p:cNvPr>
          <p:cNvSpPr txBox="1"/>
          <p:nvPr/>
        </p:nvSpPr>
        <p:spPr>
          <a:xfrm>
            <a:off x="1462573" y="6565592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77872B90-8FC8-4DA6-866A-D11AE0759B4E}" type="datetime1">
              <a:rPr lang="en-IN" sz="1400" smtClean="0"/>
              <a:pPr/>
              <a:t>01-10-2026</a:t>
            </a:fld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C3B6E-5D36-2BDA-046B-842503829404}"/>
              </a:ext>
            </a:extLst>
          </p:cNvPr>
          <p:cNvSpPr txBox="1"/>
          <p:nvPr/>
        </p:nvSpPr>
        <p:spPr>
          <a:xfrm>
            <a:off x="10606962" y="6618417"/>
            <a:ext cx="2449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9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EE9E25-1E21-05AD-1FC7-B7D4B70C4DC9}"/>
              </a:ext>
            </a:extLst>
          </p:cNvPr>
          <p:cNvSpPr txBox="1"/>
          <p:nvPr/>
        </p:nvSpPr>
        <p:spPr>
          <a:xfrm>
            <a:off x="8647145" y="6565592"/>
            <a:ext cx="655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DBMS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3957FF-56B0-C5E3-687D-B2913EF12597}"/>
              </a:ext>
            </a:extLst>
          </p:cNvPr>
          <p:cNvSpPr txBox="1"/>
          <p:nvPr/>
        </p:nvSpPr>
        <p:spPr>
          <a:xfrm>
            <a:off x="3125755" y="1249393"/>
            <a:ext cx="56356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C6215-E201-145D-68E1-BCCEF3877978}"/>
              </a:ext>
            </a:extLst>
          </p:cNvPr>
          <p:cNvSpPr txBox="1"/>
          <p:nvPr/>
        </p:nvSpPr>
        <p:spPr>
          <a:xfrm>
            <a:off x="130629" y="2441386"/>
            <a:ext cx="1206137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IN" sz="2400" dirty="0"/>
              <a:t> → </a:t>
            </a:r>
            <a:r>
              <a:rPr lang="en-IN" sz="2400" u="sng" dirty="0" err="1"/>
              <a:t>Customer_ID</a:t>
            </a:r>
            <a:r>
              <a:rPr lang="en-IN" sz="2400" dirty="0"/>
              <a:t>, Name, </a:t>
            </a:r>
            <a:r>
              <a:rPr lang="en-IN" sz="2400" dirty="0" err="1"/>
              <a:t>Date_of_Birth</a:t>
            </a:r>
            <a:r>
              <a:rPr lang="en-IN" sz="2400" dirty="0"/>
              <a:t>, Gender, Phone, Email, Address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</a:t>
            </a:r>
            <a:r>
              <a:rPr lang="en-IN" sz="2400" dirty="0"/>
              <a:t> → </a:t>
            </a:r>
            <a:r>
              <a:rPr lang="en-IN" sz="2400" u="sng" dirty="0" err="1"/>
              <a:t>Branch_ID</a:t>
            </a:r>
            <a:r>
              <a:rPr lang="en-IN" sz="2400" dirty="0"/>
              <a:t>, </a:t>
            </a:r>
            <a:r>
              <a:rPr lang="en-IN" sz="2400" dirty="0" err="1"/>
              <a:t>Branch_Name</a:t>
            </a:r>
            <a:r>
              <a:rPr lang="en-IN" sz="2400" dirty="0"/>
              <a:t>, </a:t>
            </a:r>
            <a:r>
              <a:rPr lang="en-IN" sz="2400" dirty="0" err="1"/>
              <a:t>IFSC_Code</a:t>
            </a:r>
            <a:r>
              <a:rPr lang="en-IN" sz="2400" dirty="0"/>
              <a:t>, Address, Phone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</a:t>
            </a:r>
            <a:r>
              <a:rPr lang="en-IN" sz="2400" dirty="0"/>
              <a:t>_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IN" sz="2400" dirty="0"/>
              <a:t> </a:t>
            </a:r>
            <a:r>
              <a:rPr lang="en-IN" sz="2400" u="sng" dirty="0"/>
              <a:t>→ </a:t>
            </a:r>
            <a:r>
              <a:rPr lang="en-IN" sz="2400" u="sng" dirty="0" err="1"/>
              <a:t>Employee_ID</a:t>
            </a:r>
            <a:r>
              <a:rPr lang="en-IN" sz="2400" dirty="0"/>
              <a:t>, Name, Phone, Email, Role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</a:t>
            </a:r>
            <a:r>
              <a:rPr lang="en-IN" sz="2400" dirty="0"/>
              <a:t> → </a:t>
            </a:r>
            <a:r>
              <a:rPr lang="en-IN" sz="2400" u="sng" dirty="0" err="1"/>
              <a:t>Account_ID</a:t>
            </a:r>
            <a:r>
              <a:rPr lang="en-IN" sz="2400" dirty="0"/>
              <a:t>, </a:t>
            </a:r>
            <a:r>
              <a:rPr lang="en-IN" sz="2400" dirty="0" err="1"/>
              <a:t>Customer_ID</a:t>
            </a:r>
            <a:r>
              <a:rPr lang="en-IN" sz="2400" dirty="0"/>
              <a:t>, </a:t>
            </a:r>
            <a:r>
              <a:rPr lang="en-IN" sz="2400" dirty="0" err="1"/>
              <a:t>Branch_ID</a:t>
            </a:r>
            <a:r>
              <a:rPr lang="en-IN" sz="2400" dirty="0"/>
              <a:t>, </a:t>
            </a:r>
            <a:r>
              <a:rPr lang="en-IN" sz="2400" dirty="0" err="1"/>
              <a:t>Account_Type</a:t>
            </a:r>
            <a:r>
              <a:rPr lang="en-IN" sz="2400" dirty="0"/>
              <a:t>, Balance, </a:t>
            </a:r>
            <a:r>
              <a:rPr lang="en-IN" sz="2400" dirty="0" err="1"/>
              <a:t>Opening_Date</a:t>
            </a:r>
            <a:r>
              <a:rPr lang="en-IN" sz="2400" dirty="0"/>
              <a:t>, Status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  <a:r>
              <a:rPr lang="en-IN" sz="2400" dirty="0"/>
              <a:t> → </a:t>
            </a:r>
            <a:r>
              <a:rPr lang="en-IN" sz="2400" u="sng" dirty="0" err="1"/>
              <a:t>Transaction_ID</a:t>
            </a:r>
            <a:r>
              <a:rPr lang="en-IN" sz="2400" dirty="0"/>
              <a:t>, </a:t>
            </a:r>
            <a:r>
              <a:rPr lang="en-IN" sz="2400" dirty="0" err="1"/>
              <a:t>Account_ID</a:t>
            </a:r>
            <a:r>
              <a:rPr lang="en-IN" sz="2400" dirty="0"/>
              <a:t>, </a:t>
            </a:r>
            <a:r>
              <a:rPr lang="en-IN" sz="2400" dirty="0" err="1"/>
              <a:t>Transaction_Type</a:t>
            </a:r>
            <a:r>
              <a:rPr lang="en-IN" sz="2400" dirty="0"/>
              <a:t>, Amount, </a:t>
            </a:r>
            <a:r>
              <a:rPr lang="en-IN" sz="2400" dirty="0" err="1"/>
              <a:t>Transaction_Date</a:t>
            </a:r>
            <a:r>
              <a:rPr lang="en-IN" sz="2400" dirty="0"/>
              <a:t>, Description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</a:t>
            </a:r>
            <a:r>
              <a:rPr lang="en-IN" sz="2400" dirty="0"/>
              <a:t> → </a:t>
            </a:r>
            <a:r>
              <a:rPr lang="en-IN" sz="2400" u="sng" dirty="0" err="1"/>
              <a:t>Loan_ID</a:t>
            </a:r>
            <a:r>
              <a:rPr lang="en-IN" sz="2400" dirty="0"/>
              <a:t>, </a:t>
            </a:r>
            <a:r>
              <a:rPr lang="en-IN" sz="2400" dirty="0" err="1"/>
              <a:t>Customer_ID</a:t>
            </a:r>
            <a:r>
              <a:rPr lang="en-IN" sz="2400" dirty="0"/>
              <a:t>, </a:t>
            </a:r>
            <a:r>
              <a:rPr lang="en-IN" sz="2400" dirty="0" err="1"/>
              <a:t>Employee_ID</a:t>
            </a:r>
            <a:r>
              <a:rPr lang="en-IN" sz="2400" dirty="0"/>
              <a:t>, </a:t>
            </a:r>
            <a:r>
              <a:rPr lang="en-IN" sz="2400" dirty="0" err="1"/>
              <a:t>Loan_Type</a:t>
            </a:r>
            <a:r>
              <a:rPr lang="en-IN" sz="2400" dirty="0"/>
              <a:t>, Amount, </a:t>
            </a:r>
            <a:r>
              <a:rPr lang="en-IN" sz="2400" dirty="0" err="1"/>
              <a:t>Interest_Rate</a:t>
            </a:r>
            <a:r>
              <a:rPr lang="en-IN" sz="2400" dirty="0"/>
              <a:t>, </a:t>
            </a:r>
            <a:r>
              <a:rPr lang="en-IN" sz="2400" dirty="0" err="1"/>
              <a:t>Loan_Date</a:t>
            </a:r>
            <a:r>
              <a:rPr lang="en-IN" sz="2400" dirty="0"/>
              <a:t>, Status</a:t>
            </a:r>
          </a:p>
        </p:txBody>
      </p:sp>
    </p:spTree>
    <p:extLst>
      <p:ext uri="{BB962C8B-B14F-4D97-AF65-F5344CB8AC3E}">
        <p14:creationId xmlns:p14="http://schemas.microsoft.com/office/powerpoint/2010/main" val="3534030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7981F-0742-BC38-F351-996CBF62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B1618A-8867-BF54-8912-F63E89CC3B98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CE495A2-F0CC-80AC-CF36-63D4423933B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244BB1E-8109-A1ED-12D0-CDD490906ED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A9EC57F-06F1-33A9-BC83-DA93CB401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6C3203-F053-3873-9F25-7DFE835035A5}"/>
              </a:ext>
            </a:extLst>
          </p:cNvPr>
          <p:cNvSpPr txBox="1"/>
          <p:nvPr/>
        </p:nvSpPr>
        <p:spPr>
          <a:xfrm>
            <a:off x="838200" y="1030801"/>
            <a:ext cx="954677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ENTITY JUSTIFICATION: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people who rent vehicles.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of vehicles available for rental.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Type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vehicles according to their type, such as car, bike, SUV, etc.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Rental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vehicle booking and rental periods.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payment information related to a rental.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details about the return of a rented vehicle.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employees who manage rental activities.</a:t>
            </a:r>
          </a:p>
        </p:txBody>
      </p:sp>
    </p:spTree>
    <p:extLst>
      <p:ext uri="{BB962C8B-B14F-4D97-AF65-F5344CB8AC3E}">
        <p14:creationId xmlns:p14="http://schemas.microsoft.com/office/powerpoint/2010/main" val="375960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FB5C-A034-6A33-F532-6650DCC3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45950AE-C671-B91A-F76F-30E5C87488C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0F0363C-5700-B8F7-8630-7207997C382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C5DE41-D9B1-7710-FDD8-2380332FE3A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F38F7E94-F792-C63F-A42F-318F8388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FC85B-95C0-E67E-507D-4D409EDDA199}"/>
              </a:ext>
            </a:extLst>
          </p:cNvPr>
          <p:cNvSpPr txBox="1"/>
          <p:nvPr/>
        </p:nvSpPr>
        <p:spPr>
          <a:xfrm>
            <a:off x="838200" y="1415144"/>
            <a:ext cx="1001661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</a:t>
            </a:r>
          </a:p>
          <a:p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tells us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two entities are connected to each other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Customer owns one or more Accounts 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Branch contains one or more Accounts 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An Account has one or more Transactions 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Customer applies for one or more Loans 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Bank Employee processes one or more Loans 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098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F89A-E893-5897-FEFF-4B6F5192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8D7E24-D498-FB26-BC97-BD3326E9AFA0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19B1754-D301-A05C-4372-215D7B20C8A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042AE1E-B1A9-AF70-F66B-A5B0DD39951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7B2601B-E61F-AB9A-8B7B-C6CF75FB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0180BB-7384-17FD-8931-2F93CF318C0F}"/>
              </a:ext>
            </a:extLst>
          </p:cNvPr>
          <p:cNvSpPr txBox="1"/>
          <p:nvPr/>
        </p:nvSpPr>
        <p:spPr>
          <a:xfrm>
            <a:off x="1034143" y="753802"/>
            <a:ext cx="996042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CARDINALITY: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— Account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customer can own many accounts, while each account belongs to one customer.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— Account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branch can have many accounts, while each account belongs to one branch.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— Transaction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account can have many transactions, while each transaction belongs to one account</a:t>
            </a:r>
            <a:r>
              <a:rPr lang="en-IN" sz="2000" dirty="0"/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— Loan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customer can have many loans, while each loan belongs to one customer.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Employee — Loan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: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bank employee can process many loans, while each loan is processed by one bank employee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43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7C4B-C062-8EF3-C211-89A64BC0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EB3837E-5481-BEB1-0C1E-C5768492E9D5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2A71BD6-F8A6-3A99-6DC7-3EA7457BFEE9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F86C398-4DEE-CEC8-24C6-C921180EC82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35A9CE5-3960-4A66-C343-7418C02F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7C6E21-2208-3EA7-08FE-D4C2A85A283C}"/>
              </a:ext>
            </a:extLst>
          </p:cNvPr>
          <p:cNvSpPr txBox="1"/>
          <p:nvPr/>
        </p:nvSpPr>
        <p:spPr>
          <a:xfrm>
            <a:off x="3185652" y="20572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4C04E-D552-E2E5-F331-6E84B1DBA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165860"/>
            <a:ext cx="11495982" cy="497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8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76DAB-B609-D201-E5FD-C59BBE3E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1806FB2-144D-FC44-F096-1EE23A69AC75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56B7529-B84D-2D48-E442-5C6E55ACC59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E69924F-00D4-21BE-B25F-2F95524EDDE0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A154915-B81B-B2EA-9FE5-3C2D8D4D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413322-2320-82DA-B2DA-5BCD2BC23E74}"/>
              </a:ext>
            </a:extLst>
          </p:cNvPr>
          <p:cNvSpPr txBox="1"/>
          <p:nvPr/>
        </p:nvSpPr>
        <p:spPr>
          <a:xfrm>
            <a:off x="43043" y="1694706"/>
            <a:ext cx="3549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TABLE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AFA50-3B76-2679-68B7-B730C3D7D7A9}"/>
              </a:ext>
            </a:extLst>
          </p:cNvPr>
          <p:cNvSpPr txBox="1"/>
          <p:nvPr/>
        </p:nvSpPr>
        <p:spPr>
          <a:xfrm>
            <a:off x="192978" y="2509935"/>
            <a:ext cx="536806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CUSTOMER (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NUMBER(6) PRIMARY KEY,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VARCHAR2(80) NOT NULL,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Date_of_Birth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Gender VARCHAR2(10) CHECK (Gender IN ('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M','F','Other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 NOT NULL UNIQUE,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 NOT NULL UNIQUE,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Address VARCHAR2(200) NOT NULL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610806-59DE-CB76-B513-EFD1E8191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610" y="1925540"/>
            <a:ext cx="6198412" cy="44507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B55517-4CDC-BC0C-501F-84C8D39C010E}"/>
              </a:ext>
            </a:extLst>
          </p:cNvPr>
          <p:cNvSpPr txBox="1"/>
          <p:nvPr/>
        </p:nvSpPr>
        <p:spPr>
          <a:xfrm>
            <a:off x="6783355" y="1279208"/>
            <a:ext cx="3939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CUSTOMER;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2E53-3DC7-F1E9-46C1-9E74826E8611}"/>
              </a:ext>
            </a:extLst>
          </p:cNvPr>
          <p:cNvSpPr txBox="1"/>
          <p:nvPr/>
        </p:nvSpPr>
        <p:spPr>
          <a:xfrm>
            <a:off x="4357396" y="377592"/>
            <a:ext cx="3144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EE5804"/>
                </a:solidFill>
              </a:rPr>
              <a:t>TABLES</a:t>
            </a:r>
          </a:p>
        </p:txBody>
      </p:sp>
    </p:spTree>
    <p:extLst>
      <p:ext uri="{BB962C8B-B14F-4D97-AF65-F5344CB8AC3E}">
        <p14:creationId xmlns:p14="http://schemas.microsoft.com/office/powerpoint/2010/main" val="579191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BF9A-C2D5-D0EE-47CD-5910DB28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BDB2E5F-8E9D-DC06-D813-4B093FD0D8B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7DDC4B2-FB59-FD2E-7C39-EF2BC7EA1D9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C57DF70-12E7-2A91-3CBE-0809A2A98B2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02FD261-1505-4A88-637F-2A583FED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AF481F-B700-A469-0FC9-A4DFF0F45B63}"/>
              </a:ext>
            </a:extLst>
          </p:cNvPr>
          <p:cNvSpPr txBox="1"/>
          <p:nvPr/>
        </p:nvSpPr>
        <p:spPr>
          <a:xfrm>
            <a:off x="259352" y="1315652"/>
            <a:ext cx="3333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68E47-2DE0-62B7-0BF1-C01A9C20EA02}"/>
              </a:ext>
            </a:extLst>
          </p:cNvPr>
          <p:cNvSpPr txBox="1"/>
          <p:nvPr/>
        </p:nvSpPr>
        <p:spPr>
          <a:xfrm>
            <a:off x="314777" y="2208064"/>
            <a:ext cx="609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BRANCH 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NUMBER(4) PRIMARY KEY,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IFSC_Code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VARCHAR2(15) NOT NULL UNIQUE,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Address VARCHAR2(200) NOT NULL,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VARCHAR2(20) NOT NULL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EC394A-0C79-5D17-A9A5-D5ECDCB2D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707" y="2067510"/>
            <a:ext cx="5208516" cy="43087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9B0485-81F4-3767-227B-9C9CA588EA81}"/>
              </a:ext>
            </a:extLst>
          </p:cNvPr>
          <p:cNvSpPr txBox="1"/>
          <p:nvPr/>
        </p:nvSpPr>
        <p:spPr>
          <a:xfrm>
            <a:off x="6010470" y="1423303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BRANCH;</a:t>
            </a:r>
          </a:p>
        </p:txBody>
      </p:sp>
    </p:spTree>
    <p:extLst>
      <p:ext uri="{BB962C8B-B14F-4D97-AF65-F5344CB8AC3E}">
        <p14:creationId xmlns:p14="http://schemas.microsoft.com/office/powerpoint/2010/main" val="3969934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AF98-3D99-83C5-B242-3D998D589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DEC38EE-4996-097C-D048-176AC2B2E2FE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326F04D7-2C4E-9EA1-6156-CE51C7AD91F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29108FD-6D77-85A5-54FC-7454F19CC328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A0878793-DE2E-F0DF-9692-065C2CFCF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6BDF01-673A-04CE-1B4A-BAD9D40B11F0}"/>
              </a:ext>
            </a:extLst>
          </p:cNvPr>
          <p:cNvSpPr txBox="1"/>
          <p:nvPr/>
        </p:nvSpPr>
        <p:spPr>
          <a:xfrm>
            <a:off x="35267" y="1212980"/>
            <a:ext cx="4786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_EMPLOYEE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3C963-68C8-E3F5-B0D6-B7C0C8FE6263}"/>
              </a:ext>
            </a:extLst>
          </p:cNvPr>
          <p:cNvSpPr txBox="1"/>
          <p:nvPr/>
        </p:nvSpPr>
        <p:spPr>
          <a:xfrm>
            <a:off x="35267" y="2136710"/>
            <a:ext cx="5926994" cy="3834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BANK_EMPLOYEE (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NUMBER(4) PRIMARY KEY,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VARCHAR2(80) NOT NULL,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Phone VARCHAR2(15) NOT NULL UNIQUE,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 NOT NULL UNIQUE,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Role VARCHAR2(40) NOT NULL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E9B47B-7637-B1C8-14FA-82CB3EF22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160" y="2089663"/>
            <a:ext cx="6147573" cy="39289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71C3562-93DF-1CDF-A043-49D3D8F27E43}"/>
              </a:ext>
            </a:extLst>
          </p:cNvPr>
          <p:cNvSpPr txBox="1"/>
          <p:nvPr/>
        </p:nvSpPr>
        <p:spPr>
          <a:xfrm>
            <a:off x="5346441" y="1316495"/>
            <a:ext cx="6931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BANK_EMPLOYEE;</a:t>
            </a:r>
          </a:p>
        </p:txBody>
      </p:sp>
    </p:spTree>
    <p:extLst>
      <p:ext uri="{BB962C8B-B14F-4D97-AF65-F5344CB8AC3E}">
        <p14:creationId xmlns:p14="http://schemas.microsoft.com/office/powerpoint/2010/main" val="3432048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2BE6D-19BA-38A3-4AE7-66DB1D0C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AF739FA-FBCD-BF37-422E-CDB2C30B6E92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D12076A-9981-FE1A-AAC6-EFC4706220A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6F4338B-2684-9B03-A907-36283D408FA6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85CC33A-1C89-7408-37BA-59FB1D4C6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53F11-69BC-9C48-D01F-AEDB8DB5D27B}"/>
              </a:ext>
            </a:extLst>
          </p:cNvPr>
          <p:cNvSpPr txBox="1"/>
          <p:nvPr/>
        </p:nvSpPr>
        <p:spPr>
          <a:xfrm>
            <a:off x="0" y="1160155"/>
            <a:ext cx="3750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 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8D41C6-7CC6-A92D-EFA0-3DA3488D10C3}"/>
              </a:ext>
            </a:extLst>
          </p:cNvPr>
          <p:cNvSpPr txBox="1"/>
          <p:nvPr/>
        </p:nvSpPr>
        <p:spPr>
          <a:xfrm>
            <a:off x="1" y="1958688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ACCOUNT 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PRIMARY KEY,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NUMBER(4)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VARCHAR2(20) 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Savings','Current','Salary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Balance NUMBER(12,2) DEFAULT 0 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(Balance &gt;= 0),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Opening_Date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Status VARCHAR2(20) DEFAULT 'Active' 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(Status IN 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Active','Inactive','Closed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CUSTOMER(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BRANCH(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D77AF4-B98F-5DB4-ACA1-D95FDAD02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783" y="1563815"/>
            <a:ext cx="5393094" cy="49191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1CD135-8BD1-9E0A-03A6-A5FB9F9BFA00}"/>
              </a:ext>
            </a:extLst>
          </p:cNvPr>
          <p:cNvSpPr txBox="1"/>
          <p:nvPr/>
        </p:nvSpPr>
        <p:spPr>
          <a:xfrm>
            <a:off x="5803497" y="1021655"/>
            <a:ext cx="612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ACCOUNT;</a:t>
            </a:r>
          </a:p>
        </p:txBody>
      </p:sp>
    </p:spTree>
    <p:extLst>
      <p:ext uri="{BB962C8B-B14F-4D97-AF65-F5344CB8AC3E}">
        <p14:creationId xmlns:p14="http://schemas.microsoft.com/office/powerpoint/2010/main" val="1643402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932AF-2BF6-3A5C-3963-780D91834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607EE25-BA3F-78E0-5ED7-74B11F369C9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2E8C0B8-5E5A-FA05-DE33-83C51CB84AA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F4963A9-71AD-F8D1-00AE-469F49F5F590}"/>
              </a:ext>
            </a:extLst>
          </p:cNvPr>
          <p:cNvSpPr txBox="1">
            <a:spLocks/>
          </p:cNvSpPr>
          <p:nvPr/>
        </p:nvSpPr>
        <p:spPr>
          <a:xfrm>
            <a:off x="5066725" y="2961238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D87B94A7-28E7-B469-2F0E-3668D810F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BF023D-A8B4-9522-0972-6902EDCB8773}"/>
              </a:ext>
            </a:extLst>
          </p:cNvPr>
          <p:cNvSpPr txBox="1"/>
          <p:nvPr/>
        </p:nvSpPr>
        <p:spPr>
          <a:xfrm>
            <a:off x="-130629" y="1333470"/>
            <a:ext cx="447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D4371-AF2C-465F-474A-ED929E39A06C}"/>
              </a:ext>
            </a:extLst>
          </p:cNvPr>
          <p:cNvSpPr txBox="1"/>
          <p:nvPr/>
        </p:nvSpPr>
        <p:spPr>
          <a:xfrm>
            <a:off x="267623" y="2164701"/>
            <a:ext cx="543027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TRANSACTION (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PRIMARY KEY,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VARCHAR2(20) NOT NULL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('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Deposit','Withdrawal','Transfer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Amount NUMBER(12,2) NOT NULL CHECK (Amount &gt; 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 VARCHAR2(200),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ACCOUNT(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A54513-2723-C9B9-9C1A-3F17179A6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713" y="1724333"/>
            <a:ext cx="4478692" cy="4366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467685-46B9-AB42-8191-52096904DCD5}"/>
              </a:ext>
            </a:extLst>
          </p:cNvPr>
          <p:cNvSpPr txBox="1"/>
          <p:nvPr/>
        </p:nvSpPr>
        <p:spPr>
          <a:xfrm>
            <a:off x="5352662" y="1200035"/>
            <a:ext cx="68393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TRANSACTION;</a:t>
            </a:r>
          </a:p>
        </p:txBody>
      </p:sp>
    </p:spTree>
    <p:extLst>
      <p:ext uri="{BB962C8B-B14F-4D97-AF65-F5344CB8AC3E}">
        <p14:creationId xmlns:p14="http://schemas.microsoft.com/office/powerpoint/2010/main" val="555965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3FB18-E359-5BB2-4D92-52F74B37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BA5C97B-D081-3505-6A17-A5E9735A10C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91425CE-9569-3169-34BC-BC461802A719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6392849-C0D4-646C-0139-AED6FEA509D3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35C198F5-30A9-C732-1702-EB7207D9C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52" y="203408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F0A653-878F-7A73-AEA9-344410EC36B8}"/>
              </a:ext>
            </a:extLst>
          </p:cNvPr>
          <p:cNvSpPr txBox="1"/>
          <p:nvPr/>
        </p:nvSpPr>
        <p:spPr>
          <a:xfrm>
            <a:off x="-190926" y="1008247"/>
            <a:ext cx="33921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D21EC6-1C31-A651-AEC0-15D984BE222F}"/>
              </a:ext>
            </a:extLst>
          </p:cNvPr>
          <p:cNvSpPr txBox="1"/>
          <p:nvPr/>
        </p:nvSpPr>
        <p:spPr>
          <a:xfrm>
            <a:off x="306953" y="1810138"/>
            <a:ext cx="57890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LOAN (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PRIMARY KEY,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NUMBER(6)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NUMBER(4)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VARCHAR2(30)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Amount NUMBER(12,2) NOT NULL CHECK (Amount &gt; 0),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Interest_Rate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NUMBER(5,2) 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Interest_Rate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Interest_Rate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30),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Status VARCHAR2(20) NOT NULL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(Status IN ('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Approved','Pending','Rejected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CUSTOMER(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FOREIGN KEY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REFERENCES BANK_EMPLOYEE(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998BFF-5EF9-1884-6C31-3B9B200A3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452" y="1439831"/>
            <a:ext cx="5576595" cy="49364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675FA0-DB5D-EF9B-261D-F463BAEF0A76}"/>
              </a:ext>
            </a:extLst>
          </p:cNvPr>
          <p:cNvSpPr txBox="1"/>
          <p:nvPr/>
        </p:nvSpPr>
        <p:spPr>
          <a:xfrm>
            <a:off x="5694187" y="909806"/>
            <a:ext cx="61908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LOAN;</a:t>
            </a:r>
          </a:p>
        </p:txBody>
      </p:sp>
    </p:spTree>
    <p:extLst>
      <p:ext uri="{BB962C8B-B14F-4D97-AF65-F5344CB8AC3E}">
        <p14:creationId xmlns:p14="http://schemas.microsoft.com/office/powerpoint/2010/main" val="376993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049F-AAC3-7514-6A59-5AA5AAB5A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732B65F-AC3A-DA3C-6E37-0A905DF72172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696054F-5716-EB19-C54A-145E25137903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CA3A4FA-CADF-A4CE-E91C-DD5921540A97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0EDFAD63-4BD9-2FCC-1AF7-4E3737FD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999916-A6F1-BF1F-07CA-F0F639AC7DBA}"/>
              </a:ext>
            </a:extLst>
          </p:cNvPr>
          <p:cNvSpPr txBox="1"/>
          <p:nvPr/>
        </p:nvSpPr>
        <p:spPr>
          <a:xfrm>
            <a:off x="104326" y="1677382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Query 1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all customers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A1E9C-9FED-CD6E-7C95-015B91A608BD}"/>
              </a:ext>
            </a:extLst>
          </p:cNvPr>
          <p:cNvSpPr txBox="1"/>
          <p:nvPr/>
        </p:nvSpPr>
        <p:spPr>
          <a:xfrm>
            <a:off x="4021794" y="483044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5EE34-52C3-07D9-A11D-4FC3753EDE83}"/>
              </a:ext>
            </a:extLst>
          </p:cNvPr>
          <p:cNvSpPr txBox="1"/>
          <p:nvPr/>
        </p:nvSpPr>
        <p:spPr>
          <a:xfrm>
            <a:off x="267623" y="3107095"/>
            <a:ext cx="464027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Gender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A00B15-F14D-3272-0D59-9655EBA30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820" y="1306286"/>
            <a:ext cx="4418980" cy="489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844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0F8E0-05E2-A9A5-23AE-E231CFC5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7ADF4D-56E3-812A-9739-1589C32EDEE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7C7C6ED-577D-C5BF-8C96-A21D9894304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E080218-E09D-9E4D-5E58-B908381E925B}"/>
              </a:ext>
            </a:extLst>
          </p:cNvPr>
          <p:cNvSpPr txBox="1">
            <a:spLocks/>
          </p:cNvSpPr>
          <p:nvPr/>
        </p:nvSpPr>
        <p:spPr>
          <a:xfrm>
            <a:off x="3592488" y="638640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F3E0515-6AC8-7785-9CFA-D52CCBD6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0" y="534708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D913B-0E02-D4B1-2FAC-966CDF29481F}"/>
              </a:ext>
            </a:extLst>
          </p:cNvPr>
          <p:cNvSpPr txBox="1"/>
          <p:nvPr/>
        </p:nvSpPr>
        <p:spPr>
          <a:xfrm>
            <a:off x="220824" y="177811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2___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branch names and IFSC codes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C1DAC-C3B4-1B1F-F7D2-18729E7E558D}"/>
              </a:ext>
            </a:extLst>
          </p:cNvPr>
          <p:cNvSpPr txBox="1"/>
          <p:nvPr/>
        </p:nvSpPr>
        <p:spPr>
          <a:xfrm>
            <a:off x="220824" y="3285479"/>
            <a:ext cx="50260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IFSC_Code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BRANCH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B4DBBA-B0BA-31D3-5A4F-964D0C61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824" y="1745525"/>
            <a:ext cx="5374433" cy="463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999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AA25-4366-9ED8-0B89-83CEA3700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7FBB85B-02E9-B560-FA77-48A9B3C435E7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78CD3FB-33E9-B439-4019-145AB99C46F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C22F1CD-99EA-0A6F-49DB-948941F9FE0F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3FF793F-6F10-544D-C7D5-BF09E0E4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C6077C-199E-BD09-3FF8-33DAF503784F}"/>
              </a:ext>
            </a:extLst>
          </p:cNvPr>
          <p:cNvSpPr txBox="1"/>
          <p:nvPr/>
        </p:nvSpPr>
        <p:spPr>
          <a:xfrm>
            <a:off x="319009" y="151209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Query 3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Accounts with balance greater than 50000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9E92A-2DBA-6185-C098-A26A1D24D617}"/>
              </a:ext>
            </a:extLst>
          </p:cNvPr>
          <p:cNvSpPr txBox="1"/>
          <p:nvPr/>
        </p:nvSpPr>
        <p:spPr>
          <a:xfrm>
            <a:off x="267623" y="315934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Balance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Balance &gt; 50000</a:t>
            </a: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Balance DESC;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446D1F-46E1-90A0-64E0-A8BA07C91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910" y="2071395"/>
            <a:ext cx="4187890" cy="306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63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F4719-2EA6-2B38-6F62-24A56821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A346D60-21F2-4435-3297-3E15A789A1C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3F7245F-B269-6BDC-F1E1-065FDEB4300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AA058AC-FE4D-9A6A-878F-B7DDDCBFA92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5EA31FF4-4287-FEFA-508F-BE473969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264B2C-C83A-BA07-A7F9-A70D1609F814}"/>
              </a:ext>
            </a:extLst>
          </p:cNvPr>
          <p:cNvSpPr txBox="1"/>
          <p:nvPr/>
        </p:nvSpPr>
        <p:spPr>
          <a:xfrm>
            <a:off x="177281" y="16603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4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deposit transactions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01D622-4071-155D-CC68-CDBD99460E40}"/>
              </a:ext>
            </a:extLst>
          </p:cNvPr>
          <p:cNvSpPr txBox="1"/>
          <p:nvPr/>
        </p:nvSpPr>
        <p:spPr>
          <a:xfrm>
            <a:off x="177281" y="2880106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Transaction_Date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TRANSACTION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'Deposit'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2D6A91-1ACC-E0C4-09E8-9AEDECD2F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281" y="2573896"/>
            <a:ext cx="5657922" cy="276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32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B7109-F3E3-6121-33E0-F976D1A50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0AE5364-D4F7-BA3E-3796-6AFC72B72E4B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84A89349-34CA-6E92-7A50-78AB5732D48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23FEC92-94C6-625B-97E4-D54A63A8707C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CEB27004-45F8-3441-66C7-A19DB5E67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33C672-BDDA-FF42-200B-55B00DF4C5DA}"/>
              </a:ext>
            </a:extLst>
          </p:cNvPr>
          <p:cNvSpPr txBox="1"/>
          <p:nvPr/>
        </p:nvSpPr>
        <p:spPr>
          <a:xfrm>
            <a:off x="267623" y="169684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Query 5__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approved loans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096A0-2400-EF63-6D65-E99B6EAC474D}"/>
              </a:ext>
            </a:extLst>
          </p:cNvPr>
          <p:cNvSpPr txBox="1"/>
          <p:nvPr/>
        </p:nvSpPr>
        <p:spPr>
          <a:xfrm>
            <a:off x="335902" y="2953008"/>
            <a:ext cx="62421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Loan_Type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LOAN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Status = 'Approved'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2FA904-E89C-9CAA-A886-13D003D5D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829" y="2281621"/>
            <a:ext cx="5271548" cy="33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87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A1E1-D2E6-640C-E2C9-4FE6E5228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1E2A093-7B2E-4B3C-84F8-D6E9A7D554EB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4E9EEA2-6429-78F9-84CD-82E286619860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ADA51DE-251B-1D42-01F8-600CD078D4F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2EA1438D-F819-428D-8B54-C10AEFEA5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93" y="544334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FB44FE-A569-5BAD-64CB-B6893B51477A}"/>
              </a:ext>
            </a:extLst>
          </p:cNvPr>
          <p:cNvSpPr txBox="1"/>
          <p:nvPr/>
        </p:nvSpPr>
        <p:spPr>
          <a:xfrm>
            <a:off x="186612" y="19678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6—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Loan Officers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F7B66-5D4E-51E4-26EA-AB3FB9E7247B}"/>
              </a:ext>
            </a:extLst>
          </p:cNvPr>
          <p:cNvSpPr txBox="1"/>
          <p:nvPr/>
        </p:nvSpPr>
        <p:spPr>
          <a:xfrm>
            <a:off x="258293" y="3177073"/>
            <a:ext cx="535873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Name, Role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BANK_EMPLOYEE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Role = 'Loan Officer'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2B1A3-1976-02DD-20E4-C9AC006DA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737" y="2211354"/>
            <a:ext cx="6524263" cy="284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341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EADE-C3DB-37C8-0879-088AEA05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F84646A-EA28-D7EC-D37E-FC15F18E9234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3603090-C4C7-4AD5-668C-741371382142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80724A5-4AE9-57B5-B7E8-1B394C6C3AE9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77FB15E-0AE0-E64F-2C42-154D9D22C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2F503F-0E34-6647-3022-4311EE30D142}"/>
              </a:ext>
            </a:extLst>
          </p:cNvPr>
          <p:cNvSpPr txBox="1"/>
          <p:nvPr/>
        </p:nvSpPr>
        <p:spPr>
          <a:xfrm>
            <a:off x="267623" y="1572676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7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customers by gender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DB129-C36C-EF17-4FCC-66AF0EDB846D}"/>
              </a:ext>
            </a:extLst>
          </p:cNvPr>
          <p:cNvSpPr txBox="1"/>
          <p:nvPr/>
        </p:nvSpPr>
        <p:spPr>
          <a:xfrm>
            <a:off x="267623" y="3187781"/>
            <a:ext cx="86238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Gender, COUNT(*) AS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Customer_Count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Gender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Gender;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32FDC1-FB90-1CC4-CD86-75BCAA63AA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593" y="3654687"/>
            <a:ext cx="6183458" cy="18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401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F873F-EC62-992D-E8A8-020EA2BA9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F03964C-49A0-A7D3-BD5E-FDD886D6BBC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4CC2F34-E262-7016-44FE-FAF4D5DA50E4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1074290-1D7C-0C3A-BE44-35DB6A7B559E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1E942918-041D-2E41-C3BE-5A96927BC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D7BCA6-52BB-FBC9-D371-519D3965DA6F}"/>
              </a:ext>
            </a:extLst>
          </p:cNvPr>
          <p:cNvSpPr txBox="1"/>
          <p:nvPr/>
        </p:nvSpPr>
        <p:spPr>
          <a:xfrm>
            <a:off x="101082" y="1402768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1—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and account details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FE71C5-70B9-5085-0A18-FDE87EB43BDE}"/>
              </a:ext>
            </a:extLst>
          </p:cNvPr>
          <p:cNvSpPr txBox="1"/>
          <p:nvPr/>
        </p:nvSpPr>
        <p:spPr>
          <a:xfrm>
            <a:off x="101082" y="3023765"/>
            <a:ext cx="63064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a.Account_Type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a.Balance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ACCOUNT a 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585531-FC29-F466-B7B5-3BF0A1946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8452" y="1922105"/>
            <a:ext cx="5863548" cy="355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46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E0F1D-CCFE-BF26-106D-6D9A4932B808}"/>
              </a:ext>
            </a:extLst>
          </p:cNvPr>
          <p:cNvSpPr txBox="1"/>
          <p:nvPr/>
        </p:nvSpPr>
        <p:spPr>
          <a:xfrm>
            <a:off x="137627" y="1438442"/>
            <a:ext cx="60975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2__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with customer and account details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C519520A-59AF-B146-8A9B-0654C8FCB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ED362D-8060-C0CA-C00D-0D323D38A76B}"/>
              </a:ext>
            </a:extLst>
          </p:cNvPr>
          <p:cNvSpPr txBox="1"/>
          <p:nvPr/>
        </p:nvSpPr>
        <p:spPr>
          <a:xfrm>
            <a:off x="137627" y="3128696"/>
            <a:ext cx="561702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t.Transaction_ID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t.Transaction_Type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t.Amount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TRANSACTION 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ACCOUNT a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t.Account_ID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CUSTOMER c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t.Transaction_ID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AA4B3A-4560-2FA7-E0E2-F1B49EAD8B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576" y="2379305"/>
            <a:ext cx="6300424" cy="36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134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1BAD7A-ADDD-4E66-5FAC-E02D8094D86D}"/>
              </a:ext>
            </a:extLst>
          </p:cNvPr>
          <p:cNvSpPr txBox="1"/>
          <p:nvPr/>
        </p:nvSpPr>
        <p:spPr>
          <a:xfrm>
            <a:off x="81642" y="1578401"/>
            <a:ext cx="66177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3__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Loans with customer and employee names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672B2DFE-AE72-6597-D0F9-FE5395C02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21" y="413706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5CF6FC-36D6-88C5-0CD4-9EBDB33B6BC1}"/>
              </a:ext>
            </a:extLst>
          </p:cNvPr>
          <p:cNvSpPr txBox="1"/>
          <p:nvPr/>
        </p:nvSpPr>
        <p:spPr>
          <a:xfrm>
            <a:off x="3013788" y="2413338"/>
            <a:ext cx="6120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2882C5-E30F-EE62-D3EB-288655CC4CB1}"/>
              </a:ext>
            </a:extLst>
          </p:cNvPr>
          <p:cNvSpPr txBox="1"/>
          <p:nvPr/>
        </p:nvSpPr>
        <p:spPr>
          <a:xfrm>
            <a:off x="81642" y="2901820"/>
            <a:ext cx="60143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l.Loan_ID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l.Loan_Type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l.Amount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l.Status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LOAN 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CUSTOMER c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BANK_EMPLOYEE e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l.Employee_ID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e.Employee_ID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l.Loan_ID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52DC85-EEA3-5054-7CB9-4481D3B5B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780" y="2267340"/>
            <a:ext cx="6180090" cy="345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158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5B1F1E85-CE14-94E2-EA92-7C9FD6474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21" y="413706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63D277-08C7-BC28-72F8-1CAA692A71A7}"/>
              </a:ext>
            </a:extLst>
          </p:cNvPr>
          <p:cNvSpPr txBox="1"/>
          <p:nvPr/>
        </p:nvSpPr>
        <p:spPr>
          <a:xfrm>
            <a:off x="212272" y="1469219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4__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account balance by branch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3FBAE-07A5-D716-59EA-5A779E75C908}"/>
              </a:ext>
            </a:extLst>
          </p:cNvPr>
          <p:cNvSpPr txBox="1"/>
          <p:nvPr/>
        </p:nvSpPr>
        <p:spPr>
          <a:xfrm>
            <a:off x="86307" y="2883159"/>
            <a:ext cx="63144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SUM(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a.Balance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Total_Balance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BRANCH b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ACCOUNT a 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a.Branch_ID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b.Branch_Name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b.Branch_ID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8BF5F4-F2A3-D582-6B92-F02B41181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735" y="1707211"/>
            <a:ext cx="4800799" cy="439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80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F901649A-E6E5-0702-0A7D-E7F4CD01F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21" y="413706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621257-95A9-62ED-015E-25C4A5EA18C2}"/>
              </a:ext>
            </a:extLst>
          </p:cNvPr>
          <p:cNvSpPr txBox="1"/>
          <p:nvPr/>
        </p:nvSpPr>
        <p:spPr>
          <a:xfrm>
            <a:off x="388921" y="1534533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5__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totals by type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2E9CF-95AA-D7F9-3BB0-E03F089CC8F2}"/>
              </a:ext>
            </a:extLst>
          </p:cNvPr>
          <p:cNvSpPr txBox="1"/>
          <p:nvPr/>
        </p:nvSpPr>
        <p:spPr>
          <a:xfrm>
            <a:off x="538843" y="3033757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SUM(Amount)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COUNT(*)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Txn_Count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TRANSACTION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Transaction_Type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D25712-1883-AD81-82E9-4FF2013AD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987" y="2923069"/>
            <a:ext cx="6014123" cy="1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56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BABF5-BAD4-1B07-EBAB-62FBC7B6666B}"/>
              </a:ext>
            </a:extLst>
          </p:cNvPr>
          <p:cNvSpPr txBox="1"/>
          <p:nvPr/>
        </p:nvSpPr>
        <p:spPr>
          <a:xfrm>
            <a:off x="277586" y="2837415"/>
            <a:ext cx="53207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a.Account_ID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Account_Count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CUSTOMER c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ACCOUNT 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a.Customer_ID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c.Name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2B5D5E6E-B054-5928-A50E-4CAB6880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21" y="413706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B3B211-76D1-431B-C7C4-7706A0330D48}"/>
              </a:ext>
            </a:extLst>
          </p:cNvPr>
          <p:cNvSpPr txBox="1"/>
          <p:nvPr/>
        </p:nvSpPr>
        <p:spPr>
          <a:xfrm>
            <a:off x="156289" y="1372440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6__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with their Account Count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9C1889-566B-7F6D-AA8B-4E55EAC79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040" y="1698172"/>
            <a:ext cx="4556355" cy="438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EF937DE5-F7DD-637E-EC6C-BF20ADC8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21" y="413706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D641DF-E67D-F541-009D-7456A9B21373}"/>
              </a:ext>
            </a:extLst>
          </p:cNvPr>
          <p:cNvSpPr txBox="1"/>
          <p:nvPr/>
        </p:nvSpPr>
        <p:spPr>
          <a:xfrm>
            <a:off x="388921" y="1431896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7__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Accounts with balance above average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319FC4-99FC-709C-D17C-EB9F808857F5}"/>
              </a:ext>
            </a:extLst>
          </p:cNvPr>
          <p:cNvSpPr txBox="1"/>
          <p:nvPr/>
        </p:nvSpPr>
        <p:spPr>
          <a:xfrm>
            <a:off x="251926" y="2929811"/>
            <a:ext cx="573832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Balance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Balance &gt; (SELECT AVG(Balance) FROM ACCOUNT)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Balance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951B21-8946-6EC4-85D1-05E4A1772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960" y="2585189"/>
            <a:ext cx="4243835" cy="266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54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6154B7D3-EDAC-4304-2DFF-92A660304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02" y="609649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D4A6C3-CA47-35C1-84DB-346D4D53DC11}"/>
              </a:ext>
            </a:extLst>
          </p:cNvPr>
          <p:cNvSpPr txBox="1"/>
          <p:nvPr/>
        </p:nvSpPr>
        <p:spPr>
          <a:xfrm>
            <a:off x="100305" y="176715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Query 8__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660C47-14B0-A3B6-53F4-E55AD9391320}"/>
              </a:ext>
            </a:extLst>
          </p:cNvPr>
          <p:cNvSpPr txBox="1"/>
          <p:nvPr/>
        </p:nvSpPr>
        <p:spPr>
          <a:xfrm>
            <a:off x="3438331" y="1767159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Highest-balance account(s)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5E20DD-8D1C-A0A2-90BE-ADB1F86E13DD}"/>
              </a:ext>
            </a:extLst>
          </p:cNvPr>
          <p:cNvSpPr txBox="1"/>
          <p:nvPr/>
        </p:nvSpPr>
        <p:spPr>
          <a:xfrm>
            <a:off x="221602" y="3023318"/>
            <a:ext cx="53954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Balance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ACCOUNT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Balance = (SELECT MAX(Balance) FROM ACCOUNT);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533177-A967-5519-1E2A-24A9B9DD3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029" y="3436703"/>
            <a:ext cx="6027581" cy="103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0093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BB9FE-7E09-59D0-24A2-618A0721C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7B33397-EBF1-43FB-CBE7-11B487B808E9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469A03B-3A53-C0CA-B7B7-D25F87632EC7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5286D60-150F-2A59-B256-939754184EB4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840BD1DC-0623-EC01-652B-67F7B309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616" y="235582"/>
            <a:ext cx="2160946" cy="6863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BB53664-5ABB-8C32-4A93-4E8314A5E945}"/>
              </a:ext>
            </a:extLst>
          </p:cNvPr>
          <p:cNvSpPr txBox="1"/>
          <p:nvPr/>
        </p:nvSpPr>
        <p:spPr>
          <a:xfrm>
            <a:off x="0" y="1376535"/>
            <a:ext cx="4700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NORMAL FORM — 1NF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659BB7-BC43-1C18-CB52-6D4A5B60E350}"/>
              </a:ext>
            </a:extLst>
          </p:cNvPr>
          <p:cNvSpPr txBox="1"/>
          <p:nvPr/>
        </p:nvSpPr>
        <p:spPr>
          <a:xfrm>
            <a:off x="0" y="2521059"/>
            <a:ext cx="55703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Account Management System satisfies 1NF because: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All attributes contain single and atomic values.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are no repeating groups or multivalued attributes.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account is uniquely identified by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 and branch information is stored in individual fields.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account record is stored as a separate row.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relation is organized into rows and columns.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0A0B2-B1B4-F02B-5EC0-7CAE9EEC58FB}"/>
              </a:ext>
            </a:extLst>
          </p:cNvPr>
          <p:cNvSpPr txBox="1"/>
          <p:nvPr/>
        </p:nvSpPr>
        <p:spPr>
          <a:xfrm>
            <a:off x="3867640" y="163283"/>
            <a:ext cx="5570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EE5804"/>
                </a:solidFill>
              </a:rPr>
              <a:t>NORMALISATION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3FDD4-2C62-AF55-ACF2-D38BFD362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73352"/>
            <a:ext cx="12192000" cy="1368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F16180-A61B-D73D-7FF5-B42D00943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657" y="3467010"/>
            <a:ext cx="6767903" cy="12343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43225B-2DC6-92A7-0F1F-7D8EF38922ED}"/>
              </a:ext>
            </a:extLst>
          </p:cNvPr>
          <p:cNvSpPr txBox="1"/>
          <p:nvPr/>
        </p:nvSpPr>
        <p:spPr>
          <a:xfrm>
            <a:off x="5419735" y="2584346"/>
            <a:ext cx="4018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1NF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940CAF-FAA7-6CB2-8CAA-A193178BE876}"/>
              </a:ext>
            </a:extLst>
          </p:cNvPr>
          <p:cNvSpPr txBox="1"/>
          <p:nvPr/>
        </p:nvSpPr>
        <p:spPr>
          <a:xfrm rot="10800000" flipV="1">
            <a:off x="319863" y="4757940"/>
            <a:ext cx="5186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1NF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358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4E32-6503-E9B2-CDEA-5EB6BFB4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2C343E-90AB-DD34-D270-E5E55B25DA7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BAF836C-0B9F-4189-4C84-C881DFA06EE1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561B333-4D9D-9874-614C-19DE16982540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64897C71-54D4-755F-DE68-39EC15176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0F28DF-8060-1007-5F9F-B59FB82675BF}"/>
              </a:ext>
            </a:extLst>
          </p:cNvPr>
          <p:cNvSpPr txBox="1"/>
          <p:nvPr/>
        </p:nvSpPr>
        <p:spPr>
          <a:xfrm>
            <a:off x="3765755" y="60069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(ACCOUNT_ID, TRANSACTION_ID)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5010D-55FA-677D-467F-6534366208D0}"/>
              </a:ext>
            </a:extLst>
          </p:cNvPr>
          <p:cNvSpPr txBox="1"/>
          <p:nvPr/>
        </p:nvSpPr>
        <p:spPr>
          <a:xfrm>
            <a:off x="267623" y="3965242"/>
            <a:ext cx="722973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addressed in 1NF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Repeating or multiple values are removed.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attribute contains only a single atomic value.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Account information is stored row-wise.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account is uniquely identified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TRANSACTION_ID)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Non-atomic values are avoided.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11EFD0-6E2C-BA1F-6FCF-356B39AC22E5}"/>
              </a:ext>
            </a:extLst>
          </p:cNvPr>
          <p:cNvSpPr txBox="1"/>
          <p:nvPr/>
        </p:nvSpPr>
        <p:spPr>
          <a:xfrm>
            <a:off x="4221832" y="741403"/>
            <a:ext cx="3748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1NF--(NORMAL FORM)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0172ED-3F81-5B4A-9CDE-5CE3C415F368}"/>
              </a:ext>
            </a:extLst>
          </p:cNvPr>
          <p:cNvSpPr txBox="1"/>
          <p:nvPr/>
        </p:nvSpPr>
        <p:spPr>
          <a:xfrm>
            <a:off x="276954" y="996035"/>
            <a:ext cx="56158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Customer_Phone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Opening_Date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Account_Status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Amount)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049DE1-4279-2A53-A87A-EF1F86B42947}"/>
              </a:ext>
            </a:extLst>
          </p:cNvPr>
          <p:cNvSpPr txBox="1"/>
          <p:nvPr/>
        </p:nvSpPr>
        <p:spPr>
          <a:xfrm>
            <a:off x="6652828" y="2015904"/>
            <a:ext cx="64427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CUSTOMER_ID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CUSTOMER_NAME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CUSTOMER_PHONE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BRANCH_ID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BRANCH_NAME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ACCOUNT_TYPE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BALANCE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OPENING_DATE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ACCOUNT_ID → ACCOUNT_STATUS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 → AMOUNT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0447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FF2D-D6AE-3D05-3F60-D0A434203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D2CF76C-4FFB-353D-1426-C8C8480BEFBD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0C1A87A-7C0A-83BF-96B8-B76000AA782E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8E75638-21B7-6F09-C0BD-3EA62B19FADD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/>
              <a:t>DBMS                                                                </a:t>
            </a:r>
            <a:endParaRPr lang="en-US" sz="1400" dirty="0"/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2DB4A63-F272-2F98-D1D2-C61F3322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537"/>
            <a:ext cx="2160946" cy="68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2A44B8-69FE-F9F2-AE30-AD092AE54DD3}"/>
              </a:ext>
            </a:extLst>
          </p:cNvPr>
          <p:cNvSpPr txBox="1"/>
          <p:nvPr/>
        </p:nvSpPr>
        <p:spPr>
          <a:xfrm>
            <a:off x="84743" y="840914"/>
            <a:ext cx="3618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2NF--(NORMAL FORM)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4DCD2-98FD-0D1E-BE82-44F7DB963D50}"/>
              </a:ext>
            </a:extLst>
          </p:cNvPr>
          <p:cNvSpPr txBox="1"/>
          <p:nvPr/>
        </p:nvSpPr>
        <p:spPr>
          <a:xfrm>
            <a:off x="0" y="1401225"/>
            <a:ext cx="102006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Bank Account Management System satisfies 2NF because: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 is already in 1NF. 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dependencies are removed. 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 details are separated from transaction details. 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non-key attribute in the resulting relations depends on the complete primary key. </a:t>
            </a:r>
          </a:p>
          <a:p>
            <a:pPr lvl="0"/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uniquely identifies each account in ACCOUNT_2NF. </a:t>
            </a:r>
          </a:p>
          <a:p>
            <a:pPr lvl="0"/>
            <a:r>
              <a:rPr lang="en-IN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uniquely identifies each transaction in TRANSACTION_2NF. </a:t>
            </a:r>
          </a:p>
          <a:p>
            <a:pPr lvl="0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caused by partial dependencies is reduced.</a:t>
            </a:r>
          </a:p>
          <a:p>
            <a:pPr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980EF8-CEA1-7671-6475-705D0B1C5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3" y="4816476"/>
            <a:ext cx="12107257" cy="1548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033397-D2F4-0C38-2205-1896BF8FD47D}"/>
              </a:ext>
            </a:extLst>
          </p:cNvPr>
          <p:cNvSpPr txBox="1"/>
          <p:nvPr/>
        </p:nvSpPr>
        <p:spPr>
          <a:xfrm>
            <a:off x="247303" y="4473689"/>
            <a:ext cx="3068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2NF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0431A9D-D3DD-E823-F467-E4EE5C5103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496" y="3394311"/>
            <a:ext cx="9824504" cy="11276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999AAD4-D10F-4727-87B2-431194B7ABF3}"/>
              </a:ext>
            </a:extLst>
          </p:cNvPr>
          <p:cNvSpPr txBox="1"/>
          <p:nvPr/>
        </p:nvSpPr>
        <p:spPr>
          <a:xfrm>
            <a:off x="6573520" y="1700167"/>
            <a:ext cx="3322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2NF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EA47630-ED5D-DBD8-F40B-C1A374396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413" y="2421628"/>
            <a:ext cx="4148387" cy="110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77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B704-48BC-CCD2-70E0-37F9E8F80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2FF09CE-2EBC-3513-B8C1-F3370019F2CC}"/>
              </a:ext>
            </a:extLst>
          </p:cNvPr>
          <p:cNvSpPr txBox="1">
            <a:spLocks/>
          </p:cNvSpPr>
          <p:nvPr/>
        </p:nvSpPr>
        <p:spPr>
          <a:xfrm>
            <a:off x="10203638" y="6297585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E80F9E9-9B3B-B146-CA17-8FF2F01BDA6B}"/>
              </a:ext>
            </a:extLst>
          </p:cNvPr>
          <p:cNvSpPr txBox="1">
            <a:spLocks/>
          </p:cNvSpPr>
          <p:nvPr/>
        </p:nvSpPr>
        <p:spPr>
          <a:xfrm>
            <a:off x="769374" y="6297584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31D57F37-08EF-E01C-3C36-3937C696EBF9}"/>
              </a:ext>
            </a:extLst>
          </p:cNvPr>
          <p:cNvSpPr txBox="1">
            <a:spLocks/>
          </p:cNvSpPr>
          <p:nvPr/>
        </p:nvSpPr>
        <p:spPr>
          <a:xfrm>
            <a:off x="3523662" y="6297584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B757144-B9B6-0E10-CA69-08E062F9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7" y="260403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6D2578-307A-A30A-290E-1472DF25D809}"/>
              </a:ext>
            </a:extLst>
          </p:cNvPr>
          <p:cNvSpPr txBox="1"/>
          <p:nvPr/>
        </p:nvSpPr>
        <p:spPr>
          <a:xfrm>
            <a:off x="29675" y="1603991"/>
            <a:ext cx="183976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ACCOUNT_2NF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ACCOUNT(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7E018-2D3D-88CB-2D44-7209FE35DB33}"/>
              </a:ext>
            </a:extLst>
          </p:cNvPr>
          <p:cNvSpPr txBox="1"/>
          <p:nvPr/>
        </p:nvSpPr>
        <p:spPr>
          <a:xfrm>
            <a:off x="0" y="1049845"/>
            <a:ext cx="6384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000000"/>
                </a:solidFill>
                <a:latin typeface="Times New Roman"/>
              </a:rPr>
              <a:t>2NF Decomposition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8DBC3-9E7D-EC3F-362E-948CE6757A28}"/>
              </a:ext>
            </a:extLst>
          </p:cNvPr>
          <p:cNvSpPr txBox="1"/>
          <p:nvPr/>
        </p:nvSpPr>
        <p:spPr>
          <a:xfrm>
            <a:off x="6584002" y="2050594"/>
            <a:ext cx="51753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/ Anomalies reduced in 2NF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Partial dependency have been removed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•Account and transaction details are maintained separately</a:t>
            </a:r>
            <a:r>
              <a:rPr lang="en-IN" sz="2000" dirty="0"/>
              <a:t>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•Account and transaction information can be updated independently.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Foreign keys maintain relationships between relations.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F7209-DBFD-CFD8-718A-8B52255C03C3}"/>
              </a:ext>
            </a:extLst>
          </p:cNvPr>
          <p:cNvSpPr txBox="1"/>
          <p:nvPr/>
        </p:nvSpPr>
        <p:spPr>
          <a:xfrm>
            <a:off x="1869441" y="2092097"/>
            <a:ext cx="62433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TRANSACTION_2NF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TRANSACTION(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8A7B4-34E3-93E9-8FB9-A9C97866FA50}"/>
              </a:ext>
            </a:extLst>
          </p:cNvPr>
          <p:cNvSpPr txBox="1"/>
          <p:nvPr/>
        </p:nvSpPr>
        <p:spPr>
          <a:xfrm>
            <a:off x="3263333" y="4954417"/>
            <a:ext cx="6243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Dependencies Remaining in 2NF</a:t>
            </a: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4542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1192-3784-2128-B19C-FB322B1C4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446407D-1F03-5750-F5DE-D3D8E169300C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ADCC893-E4A8-3323-6B3A-95114C93DD71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F926267-08D6-95A4-3A8A-43089596C795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6477E28-9F1B-6FAC-C9AC-4DCA08F81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6CB02E9-A0F2-20D6-FF36-DFABE02AF294}"/>
              </a:ext>
            </a:extLst>
          </p:cNvPr>
          <p:cNvSpPr txBox="1"/>
          <p:nvPr/>
        </p:nvSpPr>
        <p:spPr>
          <a:xfrm>
            <a:off x="151198" y="1455298"/>
            <a:ext cx="34412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3NF(NORMAL FORM)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5DA564-2902-4DA1-13A2-FB67B3CA50FC}"/>
              </a:ext>
            </a:extLst>
          </p:cNvPr>
          <p:cNvSpPr txBox="1"/>
          <p:nvPr/>
        </p:nvSpPr>
        <p:spPr>
          <a:xfrm>
            <a:off x="109555" y="4026188"/>
            <a:ext cx="611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Dependencies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1F3052-EC13-F9C8-1E6B-6A5D7FC943CA}"/>
              </a:ext>
            </a:extLst>
          </p:cNvPr>
          <p:cNvSpPr txBox="1"/>
          <p:nvPr/>
        </p:nvSpPr>
        <p:spPr>
          <a:xfrm>
            <a:off x="109555" y="4686157"/>
            <a:ext cx="5802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D00E37-9B78-5767-15D5-AA963D754E9D}"/>
              </a:ext>
            </a:extLst>
          </p:cNvPr>
          <p:cNvSpPr txBox="1"/>
          <p:nvPr/>
        </p:nvSpPr>
        <p:spPr>
          <a:xfrm>
            <a:off x="6641064" y="4182096"/>
            <a:ext cx="614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Dependencies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27B4FE-8308-B993-83E6-D5D962F7072F}"/>
              </a:ext>
            </a:extLst>
          </p:cNvPr>
          <p:cNvSpPr txBox="1"/>
          <p:nvPr/>
        </p:nvSpPr>
        <p:spPr>
          <a:xfrm>
            <a:off x="6660567" y="4725511"/>
            <a:ext cx="64381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8987A-6EAC-4E7E-C2F7-134069682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0118" y="2354087"/>
            <a:ext cx="3009210" cy="12747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C9BC02-8D63-2FDF-A08C-85A507C908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123" y="2354087"/>
            <a:ext cx="4278887" cy="13269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358B2A-D85D-DE19-A865-4EFB5D1F81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3" y="2285012"/>
            <a:ext cx="4426167" cy="14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4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483E-9747-AADB-F02B-DE039616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373F8C6-6C0E-81AB-5901-C5ECDDB3FC21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225836BC-D21C-FD77-5AD5-99EF2BA1829A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EDF06A27-4F09-C0E2-D43F-877766F6790A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96E627D3-203E-8038-F753-C06326DCD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FB8DB5-B429-1691-3072-1AA2F301728C}"/>
              </a:ext>
            </a:extLst>
          </p:cNvPr>
          <p:cNvSpPr txBox="1"/>
          <p:nvPr/>
        </p:nvSpPr>
        <p:spPr>
          <a:xfrm>
            <a:off x="355601" y="1368815"/>
            <a:ext cx="842264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 Decomposition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CUSTOMER_3NF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CUSTOMER_3NF(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BRANCH_3NF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BRANCH_3NF(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LOAN_3NF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LOAN_3NF(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Loan_Amount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ACCOUNT_3NF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ACCOUNT_3NF(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Account_Type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Branch_ID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8CA4E-2EF6-ACB1-FE81-B8CBAA3F4426}"/>
              </a:ext>
            </a:extLst>
          </p:cNvPr>
          <p:cNvSpPr txBox="1"/>
          <p:nvPr/>
        </p:nvSpPr>
        <p:spPr>
          <a:xfrm>
            <a:off x="543711" y="3892582"/>
            <a:ext cx="6547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/ Anomalies Removed in 3NF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dependencies are eliminated.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is stored separately.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information is stored separately.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information is stored separately.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 is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anomaly is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anomaly is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anomaly is reduced.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and integrity are improved.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6841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FB32-EDCC-2CCD-B135-EF8C1EDB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FE5A27-5B41-D09F-E49B-B3A7474612F3}"/>
              </a:ext>
            </a:extLst>
          </p:cNvPr>
          <p:cNvSpPr txBox="1">
            <a:spLocks/>
          </p:cNvSpPr>
          <p:nvPr/>
        </p:nvSpPr>
        <p:spPr>
          <a:xfrm>
            <a:off x="10272464" y="6376243"/>
            <a:ext cx="1081336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26EF2E3-409D-4D76-AD02-397A36B0DAF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97A172D-CC0B-304C-708D-05C893B613B5}"/>
              </a:ext>
            </a:extLst>
          </p:cNvPr>
          <p:cNvSpPr txBox="1">
            <a:spLocks/>
          </p:cNvSpPr>
          <p:nvPr/>
        </p:nvSpPr>
        <p:spPr>
          <a:xfrm>
            <a:off x="838200" y="6376242"/>
            <a:ext cx="1729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7872B90-8FC8-4DA6-866A-D11AE0759B4E}" type="datetime1">
              <a:rPr lang="en-IN" sz="1400" smtClean="0"/>
              <a:pPr/>
              <a:t>01-10-2026</a:t>
            </a:fld>
            <a:endParaRPr lang="en-US" sz="14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D4EE8A6-A29D-5BA9-547B-40FB681E2F6B}"/>
              </a:ext>
            </a:extLst>
          </p:cNvPr>
          <p:cNvSpPr txBox="1">
            <a:spLocks/>
          </p:cNvSpPr>
          <p:nvPr/>
        </p:nvSpPr>
        <p:spPr>
          <a:xfrm>
            <a:off x="3592488" y="6376242"/>
            <a:ext cx="6120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DBMS                                                                </a:t>
            </a:r>
          </a:p>
        </p:txBody>
      </p:sp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557D8FCB-32B0-D489-38A7-80A3B0E5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E00E8-F0DC-693D-0B25-0111336613C1}"/>
              </a:ext>
            </a:extLst>
          </p:cNvPr>
          <p:cNvSpPr txBox="1"/>
          <p:nvPr/>
        </p:nvSpPr>
        <p:spPr>
          <a:xfrm>
            <a:off x="650240" y="1493519"/>
            <a:ext cx="906292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solidFill>
                  <a:srgbClr val="EE580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09A6C-4982-E697-8B47-090F333543EF}"/>
              </a:ext>
            </a:extLst>
          </p:cNvPr>
          <p:cNvSpPr txBox="1"/>
          <p:nvPr/>
        </p:nvSpPr>
        <p:spPr>
          <a:xfrm>
            <a:off x="569167" y="2453950"/>
            <a:ext cx="107846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Bank Account Management System provides an organized and centralized way to manage banking information.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manages customers, branches, bank employees, accounts, transactions, and loans efficiently.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Primary keys, foreign keys, and constraints help maintain data accuracy and integrity.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Normalization up to 3NF reduces data redundancy and prevents insertion, update, and deletion anomalies.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SQL queries enable efficient storage, retrieval, and analysis of banking data.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system provides a reliable, consistent, and efficient database solution for bank account management.</a:t>
            </a:r>
          </a:p>
        </p:txBody>
      </p:sp>
    </p:spTree>
    <p:extLst>
      <p:ext uri="{BB962C8B-B14F-4D97-AF65-F5344CB8AC3E}">
        <p14:creationId xmlns:p14="http://schemas.microsoft.com/office/powerpoint/2010/main" val="2207734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F03F6991-8E3F-01D6-D7D5-3BA6D71DB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54" y="503853"/>
            <a:ext cx="3580891" cy="1137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09C687-AA4C-25C1-1B21-2C56FD986A11}"/>
              </a:ext>
            </a:extLst>
          </p:cNvPr>
          <p:cNvSpPr txBox="1"/>
          <p:nvPr/>
        </p:nvSpPr>
        <p:spPr>
          <a:xfrm>
            <a:off x="3685593" y="2616971"/>
            <a:ext cx="529045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solidFill>
                  <a:srgbClr val="2509CD"/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7087981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caa4048-c9c6-4c47-96b3-20bff02eeac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35B0DC78564F4B82DD69BBEBAF973E" ma:contentTypeVersion="5" ma:contentTypeDescription="Create a new document." ma:contentTypeScope="" ma:versionID="126bdcd2524151f8713866f1fc5c8583">
  <xsd:schema xmlns:xsd="http://www.w3.org/2001/XMLSchema" xmlns:xs="http://www.w3.org/2001/XMLSchema" xmlns:p="http://schemas.microsoft.com/office/2006/metadata/properties" xmlns:ns3="9caa4048-c9c6-4c47-96b3-20bff02eeac6" targetNamespace="http://schemas.microsoft.com/office/2006/metadata/properties" ma:root="true" ma:fieldsID="27d8bfec3de806ac276dbae841bdac01" ns3:_="">
    <xsd:import namespace="9caa4048-c9c6-4c47-96b3-20bff02eeac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a4048-c9c6-4c47-96b3-20bff02eeac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20A156-1175-4715-B91A-68C1977914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90E998-A46A-4C02-A447-A4590D717FA7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caa4048-c9c6-4c47-96b3-20bff02eeac6"/>
  </ds:schemaRefs>
</ds:datastoreItem>
</file>

<file path=customXml/itemProps3.xml><?xml version="1.0" encoding="utf-8"?>
<ds:datastoreItem xmlns:ds="http://schemas.openxmlformats.org/officeDocument/2006/customXml" ds:itemID="{49D8C514-AC49-4BA2-9008-35CA6369B3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aa4048-c9c6-4c47-96b3-20bff02eea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2653</TotalTime>
  <Words>3358</Words>
  <Application>Microsoft Office PowerPoint</Application>
  <PresentationFormat>Widescreen</PresentationFormat>
  <Paragraphs>557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Aptos</vt:lpstr>
      <vt:lpstr>Aptos Black</vt:lpstr>
      <vt:lpstr>Aptos Light</vt:lpstr>
      <vt:lpstr>Arial</vt:lpstr>
      <vt:lpstr>Arial Rounded MT Bold</vt:lpstr>
      <vt:lpstr>Berlin Sans FB Demi</vt:lpstr>
      <vt:lpstr>Times New Roman</vt:lpstr>
      <vt:lpstr>Walbaum Display</vt:lpstr>
      <vt:lpstr>Wingdings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Sampath Kadagala</dc:creator>
  <cp:lastModifiedBy>25B11CS957</cp:lastModifiedBy>
  <cp:revision>9</cp:revision>
  <dcterms:created xsi:type="dcterms:W3CDTF">2026-08-09T08:50:06Z</dcterms:created>
  <dcterms:modified xsi:type="dcterms:W3CDTF">2026-10-01T06:40:50Z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0x010100B435B0DC78564F4B82DD69BBEBAF973E</vt:lpwstr>
  </property>
</Properties>
</file>